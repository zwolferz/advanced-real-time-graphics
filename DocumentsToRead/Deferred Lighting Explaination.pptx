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1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876259-5DAC-4CBB-9F90-621B319E2548}" type="datetimeFigureOut">
              <a:rPr lang="en-GB" smtClean="0"/>
              <a:t>18/02/2026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8EEC7-261E-4B86-9959-2A47FFF8F64A}" type="slidenum">
              <a:rPr lang="en-GB" smtClean="0"/>
              <a:t>‹#›</a:t>
            </a:fld>
            <a:endParaRPr lang="en-GB"/>
          </a:p>
        </p:txBody>
      </p:sp>
    </p:spTree>
    <p:extLst>
      <p:ext uri="{BB962C8B-B14F-4D97-AF65-F5344CB8AC3E}">
        <p14:creationId xmlns:p14="http://schemas.microsoft.com/office/powerpoint/2010/main" val="58277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3AB1D91C-A757-4ADB-A16C-D6257816B089}" type="datetime1">
              <a:rPr lang="en-GB" smtClean="0"/>
              <a:t>18/02/2026</a:t>
            </a:fld>
            <a:endParaRPr lang="en-GB"/>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GB"/>
          </a:p>
        </p:txBody>
      </p:sp>
      <p:sp>
        <p:nvSpPr>
          <p:cNvPr id="6" name="Slide Number Placeholder 5"/>
          <p:cNvSpPr>
            <a:spLocks noGrp="1"/>
          </p:cNvSpPr>
          <p:nvPr>
            <p:ph type="sldNum" sz="quarter" idx="12"/>
          </p:nvPr>
        </p:nvSpPr>
        <p:spPr>
          <a:xfrm>
            <a:off x="10469880"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3455190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4" name="Date Placeholder 3"/>
          <p:cNvSpPr>
            <a:spLocks noGrp="1"/>
          </p:cNvSpPr>
          <p:nvPr>
            <p:ph type="dt" sz="half" idx="10"/>
          </p:nvPr>
        </p:nvSpPr>
        <p:spPr/>
        <p:txBody>
          <a:bodyPr/>
          <a:lstStyle/>
          <a:p>
            <a:fld id="{94FF20DC-DBDE-44B4-8356-17E6DE41B012}" type="datetime1">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304806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7FD8D86A-00AD-4E54-9868-EF30B1AE8488}" type="datetime1">
              <a:rPr lang="en-GB" smtClean="0"/>
              <a:t>18/02/2026</a:t>
            </a:fld>
            <a:endParaRPr lang="en-GB"/>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GB"/>
          </a:p>
        </p:txBody>
      </p:sp>
      <p:sp>
        <p:nvSpPr>
          <p:cNvPr id="6" name="Slide Number Placeholder 5"/>
          <p:cNvSpPr>
            <a:spLocks noGrp="1"/>
          </p:cNvSpPr>
          <p:nvPr>
            <p:ph type="sldNum" sz="quarter" idx="12"/>
          </p:nvPr>
        </p:nvSpPr>
        <p:spPr>
          <a:xfrm>
            <a:off x="10469880"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3923227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8F758C-C41B-439E-B0D0-A1D31EF9066F}" type="datetime1">
              <a:rPr lang="en-GB" smtClean="0"/>
              <a:t>18/02/2026</a:t>
            </a:fld>
            <a:endParaRPr lang="en-GB"/>
          </a:p>
        </p:txBody>
      </p:sp>
      <p:sp>
        <p:nvSpPr>
          <p:cNvPr id="6" name="Footer Placeholder 5"/>
          <p:cNvSpPr>
            <a:spLocks noGrp="1"/>
          </p:cNvSpPr>
          <p:nvPr>
            <p:ph type="ftr" sz="quarter" idx="11"/>
          </p:nvPr>
        </p:nvSpPr>
        <p:spPr>
          <a:xfrm>
            <a:off x="804672" y="6227064"/>
            <a:ext cx="10588752" cy="320040"/>
          </a:xfrm>
        </p:spPr>
        <p:txBody>
          <a:bodyPr/>
          <a:lstStyle/>
          <a:p>
            <a:endParaRPr lang="en-GB"/>
          </a:p>
        </p:txBody>
      </p:sp>
      <p:sp>
        <p:nvSpPr>
          <p:cNvPr id="7" name="Slide Number Placeholder 6"/>
          <p:cNvSpPr>
            <a:spLocks noGrp="1"/>
          </p:cNvSpPr>
          <p:nvPr>
            <p:ph type="sldNum" sz="quarter" idx="12"/>
          </p:nvPr>
        </p:nvSpPr>
        <p:spPr>
          <a:xfrm>
            <a:off x="10469880"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3354424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388AD5B2-81BA-4B81-961F-7B235BD6920E}" type="datetime1">
              <a:rPr lang="en-GB" smtClean="0"/>
              <a:t>18/02/2026</a:t>
            </a:fld>
            <a:endParaRPr lang="en-GB"/>
          </a:p>
        </p:txBody>
      </p:sp>
      <p:sp>
        <p:nvSpPr>
          <p:cNvPr id="8" name="Footer Placeholder 7"/>
          <p:cNvSpPr>
            <a:spLocks noGrp="1"/>
          </p:cNvSpPr>
          <p:nvPr>
            <p:ph type="ftr" sz="quarter" idx="11"/>
          </p:nvPr>
        </p:nvSpPr>
        <p:spPr>
          <a:xfrm>
            <a:off x="804672" y="6227064"/>
            <a:ext cx="10588752" cy="320040"/>
          </a:xfrm>
        </p:spPr>
        <p:txBody>
          <a:bodyPr/>
          <a:lstStyle/>
          <a:p>
            <a:endParaRPr lang="en-GB"/>
          </a:p>
        </p:txBody>
      </p:sp>
      <p:sp>
        <p:nvSpPr>
          <p:cNvPr id="9" name="Slide Number Placeholder 8"/>
          <p:cNvSpPr>
            <a:spLocks noGrp="1"/>
          </p:cNvSpPr>
          <p:nvPr>
            <p:ph type="sldNum" sz="quarter" idx="12"/>
          </p:nvPr>
        </p:nvSpPr>
        <p:spPr>
          <a:xfrm>
            <a:off x="10469880"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2887845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A585903-01D6-48A5-AADE-070BAEB1B469}" type="datetime1">
              <a:rPr lang="en-GB" smtClean="0"/>
              <a:t>18/02/2026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1191526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B31F9B99-6E68-4A03-B59D-41147BAFB2AF}" type="datetime1">
              <a:rPr lang="en-GB" smtClean="0"/>
              <a:t>18/02/2026</a:t>
            </a:fld>
            <a:endParaRPr lang="en-GB"/>
          </a:p>
        </p:txBody>
      </p:sp>
      <p:sp>
        <p:nvSpPr>
          <p:cNvPr id="3" name="Footer Placeholder 2"/>
          <p:cNvSpPr>
            <a:spLocks noGrp="1"/>
          </p:cNvSpPr>
          <p:nvPr>
            <p:ph type="ftr" sz="quarter" idx="11"/>
          </p:nvPr>
        </p:nvSpPr>
        <p:spPr>
          <a:xfrm>
            <a:off x="804672" y="6227064"/>
            <a:ext cx="10588752" cy="320040"/>
          </a:xfrm>
        </p:spPr>
        <p:txBody>
          <a:bodyPr/>
          <a:lstStyle/>
          <a:p>
            <a:endParaRPr lang="en-GB"/>
          </a:p>
        </p:txBody>
      </p:sp>
      <p:sp>
        <p:nvSpPr>
          <p:cNvPr id="4" name="Slide Number Placeholder 3"/>
          <p:cNvSpPr>
            <a:spLocks noGrp="1"/>
          </p:cNvSpPr>
          <p:nvPr>
            <p:ph type="sldNum" sz="quarter" idx="12"/>
          </p:nvPr>
        </p:nvSpPr>
        <p:spPr>
          <a:xfrm>
            <a:off x="10469880"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2198672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B9C2F26-1BEB-4CFA-AD17-E5353459717F}" type="datetime1">
              <a:rPr lang="en-GB" smtClean="0"/>
              <a:t>18/02/2026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4019201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7317400F-3777-4D3E-8B75-E3D441B990DC}" type="datetime1">
              <a:rPr lang="en-GB" smtClean="0"/>
              <a:t>18/02/2026</a:t>
            </a:fld>
            <a:endParaRPr lang="en-GB"/>
          </a:p>
        </p:txBody>
      </p:sp>
      <p:sp>
        <p:nvSpPr>
          <p:cNvPr id="6" name="Footer Placeholder 5"/>
          <p:cNvSpPr>
            <a:spLocks noGrp="1"/>
          </p:cNvSpPr>
          <p:nvPr>
            <p:ph type="ftr" sz="quarter" idx="11"/>
          </p:nvPr>
        </p:nvSpPr>
        <p:spPr>
          <a:xfrm>
            <a:off x="804672" y="6227064"/>
            <a:ext cx="5942203" cy="320040"/>
          </a:xfrm>
        </p:spPr>
        <p:txBody>
          <a:bodyPr/>
          <a:lstStyle/>
          <a:p>
            <a:endParaRPr lang="en-GB"/>
          </a:p>
        </p:txBody>
      </p:sp>
      <p:sp>
        <p:nvSpPr>
          <p:cNvPr id="7" name="Slide Number Placeholder 6"/>
          <p:cNvSpPr>
            <a:spLocks noGrp="1"/>
          </p:cNvSpPr>
          <p:nvPr>
            <p:ph type="sldNum" sz="quarter" idx="12"/>
          </p:nvPr>
        </p:nvSpPr>
        <p:spPr>
          <a:xfrm>
            <a:off x="5828377"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609022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A14F989-606F-4800-A686-DCF5A60D2172}" type="datetime1">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4097410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8ABB3A1E-AAA4-470C-8C4E-DAAA4C564432}" type="datetime1">
              <a:rPr lang="en-GB" smtClean="0"/>
              <a:t>18/02/2026</a:t>
            </a:fld>
            <a:endParaRPr lang="en-GB"/>
          </a:p>
        </p:txBody>
      </p:sp>
      <p:sp>
        <p:nvSpPr>
          <p:cNvPr id="5" name="Footer Placeholder 4"/>
          <p:cNvSpPr>
            <a:spLocks noGrp="1"/>
          </p:cNvSpPr>
          <p:nvPr>
            <p:ph type="ftr" sz="quarter" idx="11"/>
          </p:nvPr>
        </p:nvSpPr>
        <p:spPr>
          <a:xfrm>
            <a:off x="804672" y="6227064"/>
            <a:ext cx="10588752" cy="320040"/>
          </a:xfrm>
        </p:spPr>
        <p:txBody>
          <a:bodyPr/>
          <a:lstStyle/>
          <a:p>
            <a:endParaRPr lang="en-GB"/>
          </a:p>
        </p:txBody>
      </p:sp>
      <p:sp>
        <p:nvSpPr>
          <p:cNvPr id="6" name="Slide Number Placeholder 5"/>
          <p:cNvSpPr>
            <a:spLocks noGrp="1"/>
          </p:cNvSpPr>
          <p:nvPr>
            <p:ph type="sldNum" sz="quarter" idx="12"/>
          </p:nvPr>
        </p:nvSpPr>
        <p:spPr>
          <a:xfrm>
            <a:off x="10469880" y="320040"/>
            <a:ext cx="914400" cy="320040"/>
          </a:xfrm>
        </p:spPr>
        <p:txBody>
          <a:bodyPr/>
          <a:lstStyle/>
          <a:p>
            <a:fld id="{42BF24B6-8F83-407C-A1CA-CA1BE030BB0E}" type="slidenum">
              <a:rPr lang="en-GB" smtClean="0"/>
              <a:t>‹#›</a:t>
            </a:fld>
            <a:endParaRPr lang="en-GB"/>
          </a:p>
        </p:txBody>
      </p:sp>
    </p:spTree>
    <p:extLst>
      <p:ext uri="{BB962C8B-B14F-4D97-AF65-F5344CB8AC3E}">
        <p14:creationId xmlns:p14="http://schemas.microsoft.com/office/powerpoint/2010/main" val="250765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6CCE6F00-AF7A-4334-BAFD-A32D47E7F9A5}" type="datetime1">
              <a:rPr lang="en-GB" smtClean="0"/>
              <a:t>18/02/2026</a:t>
            </a:fld>
            <a:endParaRPr lang="en-GB"/>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42BF24B6-8F83-407C-A1CA-CA1BE030BB0E}" type="slidenum">
              <a:rPr lang="en-GB" smtClean="0"/>
              <a:t>‹#›</a:t>
            </a:fld>
            <a:endParaRPr lang="en-GB"/>
          </a:p>
        </p:txBody>
      </p:sp>
    </p:spTree>
    <p:extLst>
      <p:ext uri="{BB962C8B-B14F-4D97-AF65-F5344CB8AC3E}">
        <p14:creationId xmlns:p14="http://schemas.microsoft.com/office/powerpoint/2010/main" val="3004120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4241-8C21-39A3-A6C3-7565040F8810}"/>
              </a:ext>
            </a:extLst>
          </p:cNvPr>
          <p:cNvSpPr>
            <a:spLocks noGrp="1"/>
          </p:cNvSpPr>
          <p:nvPr>
            <p:ph type="ctrTitle"/>
          </p:nvPr>
        </p:nvSpPr>
        <p:spPr/>
        <p:txBody>
          <a:bodyPr/>
          <a:lstStyle/>
          <a:p>
            <a:r>
              <a:rPr lang="en-GB" dirty="0"/>
              <a:t>Deferred Lighting Explanation</a:t>
            </a:r>
          </a:p>
        </p:txBody>
      </p:sp>
      <p:sp>
        <p:nvSpPr>
          <p:cNvPr id="3" name="Subtitle 2">
            <a:extLst>
              <a:ext uri="{FF2B5EF4-FFF2-40B4-BE49-F238E27FC236}">
                <a16:creationId xmlns:a16="http://schemas.microsoft.com/office/drawing/2014/main" id="{DBD53B2F-6F0C-A980-2BE7-479C39679F33}"/>
              </a:ext>
            </a:extLst>
          </p:cNvPr>
          <p:cNvSpPr>
            <a:spLocks noGrp="1"/>
          </p:cNvSpPr>
          <p:nvPr>
            <p:ph type="subTitle" idx="1"/>
          </p:nvPr>
        </p:nvSpPr>
        <p:spPr/>
        <p:txBody>
          <a:bodyPr/>
          <a:lstStyle/>
          <a:p>
            <a:r>
              <a:rPr lang="en-GB" dirty="0"/>
              <a:t>By Ryan Moakes</a:t>
            </a:r>
          </a:p>
        </p:txBody>
      </p:sp>
      <p:sp>
        <p:nvSpPr>
          <p:cNvPr id="4" name="Subtitle 2">
            <a:extLst>
              <a:ext uri="{FF2B5EF4-FFF2-40B4-BE49-F238E27FC236}">
                <a16:creationId xmlns:a16="http://schemas.microsoft.com/office/drawing/2014/main" id="{103B24E7-ADB2-3C90-5B34-20791EC43F60}"/>
              </a:ext>
            </a:extLst>
          </p:cNvPr>
          <p:cNvSpPr txBox="1">
            <a:spLocks/>
          </p:cNvSpPr>
          <p:nvPr/>
        </p:nvSpPr>
        <p:spPr>
          <a:xfrm>
            <a:off x="1765724" y="1414210"/>
            <a:ext cx="8673427" cy="1322587"/>
          </a:xfrm>
          <a:prstGeom prst="rect">
            <a:avLst/>
          </a:prstGeom>
        </p:spPr>
        <p:txBody>
          <a:bodyPr vert="horz" lIns="91440" tIns="0" rIns="91440" bIns="45720" rtlCol="0">
            <a:normAutofit/>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r>
              <a:rPr lang="en-GB" dirty="0"/>
              <a:t>Advanced Real-Time Graphics : GDEV60010-2025-SUG1-2025-SUG2</a:t>
            </a:r>
          </a:p>
        </p:txBody>
      </p:sp>
      <p:sp>
        <p:nvSpPr>
          <p:cNvPr id="5" name="Slide Number Placeholder 4">
            <a:extLst>
              <a:ext uri="{FF2B5EF4-FFF2-40B4-BE49-F238E27FC236}">
                <a16:creationId xmlns:a16="http://schemas.microsoft.com/office/drawing/2014/main" id="{A1ED23E5-BC45-D236-7C73-504257CFD18B}"/>
              </a:ext>
            </a:extLst>
          </p:cNvPr>
          <p:cNvSpPr>
            <a:spLocks noGrp="1"/>
          </p:cNvSpPr>
          <p:nvPr>
            <p:ph type="sldNum" sz="quarter" idx="12"/>
          </p:nvPr>
        </p:nvSpPr>
        <p:spPr/>
        <p:txBody>
          <a:bodyPr/>
          <a:lstStyle/>
          <a:p>
            <a:fld id="{42BF24B6-8F83-407C-A1CA-CA1BE030BB0E}" type="slidenum">
              <a:rPr lang="en-GB" smtClean="0"/>
              <a:t>1</a:t>
            </a:fld>
            <a:endParaRPr lang="en-GB"/>
          </a:p>
        </p:txBody>
      </p:sp>
    </p:spTree>
    <p:extLst>
      <p:ext uri="{BB962C8B-B14F-4D97-AF65-F5344CB8AC3E}">
        <p14:creationId xmlns:p14="http://schemas.microsoft.com/office/powerpoint/2010/main" val="3263610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183693-A1A0-524D-BBF6-8B6C79BD09DC}"/>
              </a:ext>
            </a:extLst>
          </p:cNvPr>
          <p:cNvSpPr/>
          <p:nvPr/>
        </p:nvSpPr>
        <p:spPr>
          <a:xfrm>
            <a:off x="589864" y="4562856"/>
            <a:ext cx="11192666" cy="213969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5">
            <a:extLst>
              <a:ext uri="{FF2B5EF4-FFF2-40B4-BE49-F238E27FC236}">
                <a16:creationId xmlns:a16="http://schemas.microsoft.com/office/drawing/2014/main" id="{97510AC6-2E6C-4755-4A22-23FCF10D3D6C}"/>
              </a:ext>
            </a:extLst>
          </p:cNvPr>
          <p:cNvSpPr>
            <a:spLocks noGrp="1"/>
          </p:cNvSpPr>
          <p:nvPr>
            <p:ph type="sldNum" sz="quarter" idx="12"/>
          </p:nvPr>
        </p:nvSpPr>
        <p:spPr>
          <a:xfrm>
            <a:off x="10991088" y="73152"/>
            <a:ext cx="914400" cy="320040"/>
          </a:xfrm>
        </p:spPr>
        <p:txBody>
          <a:bodyPr/>
          <a:lstStyle/>
          <a:p>
            <a:fld id="{42BF24B6-8F83-407C-A1CA-CA1BE030BB0E}" type="slidenum">
              <a:rPr lang="en-GB" smtClean="0"/>
              <a:t>2</a:t>
            </a:fld>
            <a:endParaRPr lang="en-GB"/>
          </a:p>
        </p:txBody>
      </p:sp>
      <p:sp>
        <p:nvSpPr>
          <p:cNvPr id="7" name="Rectangle 6">
            <a:extLst>
              <a:ext uri="{FF2B5EF4-FFF2-40B4-BE49-F238E27FC236}">
                <a16:creationId xmlns:a16="http://schemas.microsoft.com/office/drawing/2014/main" id="{2E5C219E-EA04-D75A-834A-7025E303A78A}"/>
              </a:ext>
            </a:extLst>
          </p:cNvPr>
          <p:cNvSpPr/>
          <p:nvPr/>
        </p:nvSpPr>
        <p:spPr>
          <a:xfrm>
            <a:off x="589864" y="393192"/>
            <a:ext cx="4155872" cy="4014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Subtitle 2">
            <a:extLst>
              <a:ext uri="{FF2B5EF4-FFF2-40B4-BE49-F238E27FC236}">
                <a16:creationId xmlns:a16="http://schemas.microsoft.com/office/drawing/2014/main" id="{78245955-6554-0D59-7571-FF8536D0D2B9}"/>
              </a:ext>
            </a:extLst>
          </p:cNvPr>
          <p:cNvSpPr txBox="1">
            <a:spLocks/>
          </p:cNvSpPr>
          <p:nvPr/>
        </p:nvSpPr>
        <p:spPr>
          <a:xfrm>
            <a:off x="604437" y="521325"/>
            <a:ext cx="4155873" cy="3757949"/>
          </a:xfrm>
          <a:prstGeom prst="rect">
            <a:avLst/>
          </a:prstGeom>
        </p:spPr>
        <p:txBody>
          <a:bodyPr vert="horz" lIns="91440" tIns="0" rIns="91440" bIns="45720" rtlCol="0">
            <a:normAutofit/>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pPr algn="l"/>
            <a:r>
              <a:rPr lang="en-GB" dirty="0"/>
              <a:t>The deferred rendering that was implemented into the advanced rendering framework was a “deferred lighting “ solution. It contains four main render pass steps to render the final image. This is the “geometry” stage, the “light accumulation” stage and the “Shading / Post Processing Stage”. These are the main render stages / passes except for a Sudo render pass stage for the UI to be overlayed on top of the screen.</a:t>
            </a:r>
          </a:p>
        </p:txBody>
      </p:sp>
      <p:sp>
        <p:nvSpPr>
          <p:cNvPr id="9" name="Rectangle 8">
            <a:extLst>
              <a:ext uri="{FF2B5EF4-FFF2-40B4-BE49-F238E27FC236}">
                <a16:creationId xmlns:a16="http://schemas.microsoft.com/office/drawing/2014/main" id="{C70250AD-3AC3-8F9C-8566-07D5A4B400F7}"/>
              </a:ext>
            </a:extLst>
          </p:cNvPr>
          <p:cNvSpPr/>
          <p:nvPr/>
        </p:nvSpPr>
        <p:spPr>
          <a:xfrm>
            <a:off x="5020056" y="393192"/>
            <a:ext cx="6762474" cy="401421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screenshot of a computer&#10;&#10;AI-generated content may be incorrect.">
            <a:extLst>
              <a:ext uri="{FF2B5EF4-FFF2-40B4-BE49-F238E27FC236}">
                <a16:creationId xmlns:a16="http://schemas.microsoft.com/office/drawing/2014/main" id="{31CF5A32-2900-91BE-4368-45758CE16985}"/>
              </a:ext>
            </a:extLst>
          </p:cNvPr>
          <p:cNvPicPr>
            <a:picLocks noChangeAspect="1"/>
          </p:cNvPicPr>
          <p:nvPr/>
        </p:nvPicPr>
        <p:blipFill>
          <a:blip r:embed="rId2"/>
          <a:stretch>
            <a:fillRect/>
          </a:stretch>
        </p:blipFill>
        <p:spPr>
          <a:xfrm>
            <a:off x="725424" y="4714533"/>
            <a:ext cx="10876712" cy="1830491"/>
          </a:xfrm>
          <a:prstGeom prst="rect">
            <a:avLst/>
          </a:prstGeom>
        </p:spPr>
      </p:pic>
      <p:pic>
        <p:nvPicPr>
          <p:cNvPr id="14" name="Picture 13" descr="A screen shot of a computer program&#10;&#10;AI-generated content may be incorrect.">
            <a:extLst>
              <a:ext uri="{FF2B5EF4-FFF2-40B4-BE49-F238E27FC236}">
                <a16:creationId xmlns:a16="http://schemas.microsoft.com/office/drawing/2014/main" id="{3504A95E-27CD-BDCC-9EAE-86A5C3E0C51F}"/>
              </a:ext>
            </a:extLst>
          </p:cNvPr>
          <p:cNvPicPr>
            <a:picLocks noChangeAspect="1"/>
          </p:cNvPicPr>
          <p:nvPr/>
        </p:nvPicPr>
        <p:blipFill>
          <a:blip r:embed="rId3"/>
          <a:stretch>
            <a:fillRect/>
          </a:stretch>
        </p:blipFill>
        <p:spPr>
          <a:xfrm>
            <a:off x="5148072" y="521325"/>
            <a:ext cx="6384627" cy="3757949"/>
          </a:xfrm>
          <a:prstGeom prst="rect">
            <a:avLst/>
          </a:prstGeom>
        </p:spPr>
      </p:pic>
    </p:spTree>
    <p:extLst>
      <p:ext uri="{BB962C8B-B14F-4D97-AF65-F5344CB8AC3E}">
        <p14:creationId xmlns:p14="http://schemas.microsoft.com/office/powerpoint/2010/main" val="2116576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75A147-DA2E-2725-68DE-E01D6724DE3E}"/>
              </a:ext>
            </a:extLst>
          </p:cNvPr>
          <p:cNvSpPr>
            <a:spLocks noGrp="1"/>
          </p:cNvSpPr>
          <p:nvPr>
            <p:ph type="sldNum" sz="quarter" idx="12"/>
          </p:nvPr>
        </p:nvSpPr>
        <p:spPr/>
        <p:txBody>
          <a:bodyPr/>
          <a:lstStyle/>
          <a:p>
            <a:fld id="{42BF24B6-8F83-407C-A1CA-CA1BE030BB0E}" type="slidenum">
              <a:rPr lang="en-GB" smtClean="0"/>
              <a:t>3</a:t>
            </a:fld>
            <a:endParaRPr lang="en-GB"/>
          </a:p>
        </p:txBody>
      </p:sp>
      <p:sp>
        <p:nvSpPr>
          <p:cNvPr id="3" name="Rectangle 2">
            <a:extLst>
              <a:ext uri="{FF2B5EF4-FFF2-40B4-BE49-F238E27FC236}">
                <a16:creationId xmlns:a16="http://schemas.microsoft.com/office/drawing/2014/main" id="{AA0905F7-D522-F8D1-9DC5-E250364A5425}"/>
              </a:ext>
            </a:extLst>
          </p:cNvPr>
          <p:cNvSpPr/>
          <p:nvPr/>
        </p:nvSpPr>
        <p:spPr>
          <a:xfrm>
            <a:off x="1228064" y="4562856"/>
            <a:ext cx="10028199" cy="213969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5">
            <a:extLst>
              <a:ext uri="{FF2B5EF4-FFF2-40B4-BE49-F238E27FC236}">
                <a16:creationId xmlns:a16="http://schemas.microsoft.com/office/drawing/2014/main" id="{4187FBD4-2783-E112-388C-BE440BC34CE1}"/>
              </a:ext>
            </a:extLst>
          </p:cNvPr>
          <p:cNvSpPr txBox="1">
            <a:spLocks/>
          </p:cNvSpPr>
          <p:nvPr/>
        </p:nvSpPr>
        <p:spPr>
          <a:xfrm>
            <a:off x="10991088" y="73152"/>
            <a:ext cx="914400" cy="320040"/>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2BF24B6-8F83-407C-A1CA-CA1BE030BB0E}" type="slidenum">
              <a:rPr lang="en-GB" smtClean="0"/>
              <a:pPr/>
              <a:t>3</a:t>
            </a:fld>
            <a:endParaRPr lang="en-GB"/>
          </a:p>
        </p:txBody>
      </p:sp>
      <p:sp>
        <p:nvSpPr>
          <p:cNvPr id="5" name="Rectangle 4">
            <a:extLst>
              <a:ext uri="{FF2B5EF4-FFF2-40B4-BE49-F238E27FC236}">
                <a16:creationId xmlns:a16="http://schemas.microsoft.com/office/drawing/2014/main" id="{15AAC675-1A3F-651E-43F6-56367790A58B}"/>
              </a:ext>
            </a:extLst>
          </p:cNvPr>
          <p:cNvSpPr/>
          <p:nvPr/>
        </p:nvSpPr>
        <p:spPr>
          <a:xfrm>
            <a:off x="589864" y="393191"/>
            <a:ext cx="4155872" cy="4014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ubtitle 2">
            <a:extLst>
              <a:ext uri="{FF2B5EF4-FFF2-40B4-BE49-F238E27FC236}">
                <a16:creationId xmlns:a16="http://schemas.microsoft.com/office/drawing/2014/main" id="{0630DD13-8597-13DD-1086-4C91113865B8}"/>
              </a:ext>
            </a:extLst>
          </p:cNvPr>
          <p:cNvSpPr txBox="1">
            <a:spLocks/>
          </p:cNvSpPr>
          <p:nvPr/>
        </p:nvSpPr>
        <p:spPr>
          <a:xfrm>
            <a:off x="604437" y="521325"/>
            <a:ext cx="4155873" cy="3757949"/>
          </a:xfrm>
          <a:prstGeom prst="rect">
            <a:avLst/>
          </a:prstGeom>
        </p:spPr>
        <p:txBody>
          <a:bodyPr vert="horz" lIns="91440" tIns="0" rIns="91440" bIns="45720" rtlCol="0">
            <a:normAutofit/>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pPr algn="l"/>
            <a:r>
              <a:rPr lang="en-GB" dirty="0"/>
              <a:t>The first pass involves the writing of the depth, normal and world position buffers to shader resource views to be used in the next pass. I also wanted to have a depth visualisation buffer so that I could display the depth buffer to the screen. This happens in two separate stages, the 1</a:t>
            </a:r>
            <a:r>
              <a:rPr lang="en-GB" baseline="30000" dirty="0"/>
              <a:t>st</a:t>
            </a:r>
            <a:r>
              <a:rPr lang="en-GB" dirty="0"/>
              <a:t> pass where the depth, normal and world position is collected, and the second or 1.5</a:t>
            </a:r>
            <a:r>
              <a:rPr lang="en-GB" baseline="30000" dirty="0"/>
              <a:t>th</a:t>
            </a:r>
            <a:r>
              <a:rPr lang="en-GB" dirty="0"/>
              <a:t> pass where a full screen quad is drawn to get a depth visualisation buffer.</a:t>
            </a:r>
          </a:p>
        </p:txBody>
      </p:sp>
      <p:sp>
        <p:nvSpPr>
          <p:cNvPr id="7" name="Rectangle 6">
            <a:extLst>
              <a:ext uri="{FF2B5EF4-FFF2-40B4-BE49-F238E27FC236}">
                <a16:creationId xmlns:a16="http://schemas.microsoft.com/office/drawing/2014/main" id="{156B1BA7-B693-B913-16B4-29610F1D488C}"/>
              </a:ext>
            </a:extLst>
          </p:cNvPr>
          <p:cNvSpPr/>
          <p:nvPr/>
        </p:nvSpPr>
        <p:spPr>
          <a:xfrm>
            <a:off x="5020056" y="393192"/>
            <a:ext cx="6762474" cy="401421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screenshot of a computer code&#10;&#10;AI-generated content may be incorrect.">
            <a:extLst>
              <a:ext uri="{FF2B5EF4-FFF2-40B4-BE49-F238E27FC236}">
                <a16:creationId xmlns:a16="http://schemas.microsoft.com/office/drawing/2014/main" id="{ADF3E139-2CD0-93DA-C122-4BE548CEC396}"/>
              </a:ext>
            </a:extLst>
          </p:cNvPr>
          <p:cNvPicPr>
            <a:picLocks noChangeAspect="1"/>
          </p:cNvPicPr>
          <p:nvPr/>
        </p:nvPicPr>
        <p:blipFill>
          <a:blip r:embed="rId2"/>
          <a:stretch>
            <a:fillRect/>
          </a:stretch>
        </p:blipFill>
        <p:spPr>
          <a:xfrm>
            <a:off x="5171519" y="676774"/>
            <a:ext cx="6430617" cy="3483747"/>
          </a:xfrm>
          <a:prstGeom prst="rect">
            <a:avLst/>
          </a:prstGeom>
        </p:spPr>
      </p:pic>
      <p:pic>
        <p:nvPicPr>
          <p:cNvPr id="13" name="Picture 12" descr="A screenshot of a video game&#10;&#10;AI-generated content may be incorrect.">
            <a:extLst>
              <a:ext uri="{FF2B5EF4-FFF2-40B4-BE49-F238E27FC236}">
                <a16:creationId xmlns:a16="http://schemas.microsoft.com/office/drawing/2014/main" id="{198A7EAD-87EA-BDF3-791C-F327990345DA}"/>
              </a:ext>
            </a:extLst>
          </p:cNvPr>
          <p:cNvPicPr>
            <a:picLocks noChangeAspect="1"/>
          </p:cNvPicPr>
          <p:nvPr/>
        </p:nvPicPr>
        <p:blipFill>
          <a:blip r:embed="rId3"/>
          <a:stretch>
            <a:fillRect/>
          </a:stretch>
        </p:blipFill>
        <p:spPr>
          <a:xfrm>
            <a:off x="1408459" y="4640638"/>
            <a:ext cx="9555476" cy="1984131"/>
          </a:xfrm>
          <a:prstGeom prst="rect">
            <a:avLst/>
          </a:prstGeom>
        </p:spPr>
      </p:pic>
    </p:spTree>
    <p:extLst>
      <p:ext uri="{BB962C8B-B14F-4D97-AF65-F5344CB8AC3E}">
        <p14:creationId xmlns:p14="http://schemas.microsoft.com/office/powerpoint/2010/main" val="438076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A3AC-0CE2-5798-5D3F-3A35C082621A}"/>
            </a:ext>
          </a:extLst>
        </p:cNvPr>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F4CA4DF-9371-5059-D563-483C34257162}"/>
              </a:ext>
            </a:extLst>
          </p:cNvPr>
          <p:cNvSpPr txBox="1">
            <a:spLocks/>
          </p:cNvSpPr>
          <p:nvPr/>
        </p:nvSpPr>
        <p:spPr>
          <a:xfrm>
            <a:off x="10991088" y="73152"/>
            <a:ext cx="914400" cy="320040"/>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2BF24B6-8F83-407C-A1CA-CA1BE030BB0E}" type="slidenum">
              <a:rPr lang="en-GB" smtClean="0"/>
              <a:pPr/>
              <a:t>4</a:t>
            </a:fld>
            <a:endParaRPr lang="en-GB"/>
          </a:p>
        </p:txBody>
      </p:sp>
      <p:sp>
        <p:nvSpPr>
          <p:cNvPr id="5" name="Rectangle 4">
            <a:extLst>
              <a:ext uri="{FF2B5EF4-FFF2-40B4-BE49-F238E27FC236}">
                <a16:creationId xmlns:a16="http://schemas.microsoft.com/office/drawing/2014/main" id="{187901B6-8E4D-CB7E-9A8C-F4B20B3CAC2B}"/>
              </a:ext>
            </a:extLst>
          </p:cNvPr>
          <p:cNvSpPr/>
          <p:nvPr/>
        </p:nvSpPr>
        <p:spPr>
          <a:xfrm>
            <a:off x="712822" y="1426463"/>
            <a:ext cx="4155872" cy="4014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ubtitle 2">
            <a:extLst>
              <a:ext uri="{FF2B5EF4-FFF2-40B4-BE49-F238E27FC236}">
                <a16:creationId xmlns:a16="http://schemas.microsoft.com/office/drawing/2014/main" id="{660C254B-6CF4-3679-FF6D-B381B84F84B9}"/>
              </a:ext>
            </a:extLst>
          </p:cNvPr>
          <p:cNvSpPr txBox="1">
            <a:spLocks/>
          </p:cNvSpPr>
          <p:nvPr/>
        </p:nvSpPr>
        <p:spPr>
          <a:xfrm>
            <a:off x="727395" y="1554597"/>
            <a:ext cx="4155873" cy="3757949"/>
          </a:xfrm>
          <a:prstGeom prst="rect">
            <a:avLst/>
          </a:prstGeom>
        </p:spPr>
        <p:txBody>
          <a:bodyPr vert="horz" lIns="91440" tIns="0" rIns="91440" bIns="45720" rtlCol="0">
            <a:normAutofit/>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pPr algn="l"/>
            <a:r>
              <a:rPr lang="en-GB" dirty="0"/>
              <a:t>The second pass is the lighting accumulation pass which used the previously gained normal, world and depth buffers to apply lighting to the untextured scene.</a:t>
            </a:r>
          </a:p>
          <a:p>
            <a:pPr algn="l"/>
            <a:endParaRPr lang="en-GB" dirty="0"/>
          </a:p>
          <a:p>
            <a:pPr algn="l"/>
            <a:r>
              <a:rPr lang="en-GB" dirty="0"/>
              <a:t>This is where the main benefit of deferred lighting comes in as the amount of overdraw is significantly reduced by only lighting pixels that will be used in the final rendered image.</a:t>
            </a:r>
          </a:p>
        </p:txBody>
      </p:sp>
      <p:sp>
        <p:nvSpPr>
          <p:cNvPr id="7" name="Rectangle 6">
            <a:extLst>
              <a:ext uri="{FF2B5EF4-FFF2-40B4-BE49-F238E27FC236}">
                <a16:creationId xmlns:a16="http://schemas.microsoft.com/office/drawing/2014/main" id="{BE14F7B2-89FE-7E64-D85E-52B35F260618}"/>
              </a:ext>
            </a:extLst>
          </p:cNvPr>
          <p:cNvSpPr/>
          <p:nvPr/>
        </p:nvSpPr>
        <p:spPr>
          <a:xfrm>
            <a:off x="5143014" y="1426463"/>
            <a:ext cx="6762474" cy="240487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9AD63F9-0672-49AC-6D95-314B3CB72147}"/>
              </a:ext>
            </a:extLst>
          </p:cNvPr>
          <p:cNvSpPr/>
          <p:nvPr/>
        </p:nvSpPr>
        <p:spPr>
          <a:xfrm>
            <a:off x="6916950" y="3960267"/>
            <a:ext cx="2935224" cy="196516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A screen shot of a computer&#10;&#10;AI-generated content may be incorrect.">
            <a:extLst>
              <a:ext uri="{FF2B5EF4-FFF2-40B4-BE49-F238E27FC236}">
                <a16:creationId xmlns:a16="http://schemas.microsoft.com/office/drawing/2014/main" id="{2F405834-14BE-E0C4-B23D-0E68C5E179C3}"/>
              </a:ext>
            </a:extLst>
          </p:cNvPr>
          <p:cNvPicPr>
            <a:picLocks noChangeAspect="1"/>
          </p:cNvPicPr>
          <p:nvPr/>
        </p:nvPicPr>
        <p:blipFill>
          <a:blip r:embed="rId2"/>
          <a:stretch>
            <a:fillRect/>
          </a:stretch>
        </p:blipFill>
        <p:spPr>
          <a:xfrm>
            <a:off x="5407282" y="1857266"/>
            <a:ext cx="6233937" cy="1543265"/>
          </a:xfrm>
          <a:prstGeom prst="rect">
            <a:avLst/>
          </a:prstGeom>
        </p:spPr>
      </p:pic>
      <p:pic>
        <p:nvPicPr>
          <p:cNvPr id="14" name="Picture 13" descr="A screenshot of a video game&#10;&#10;AI-generated content may be incorrect.">
            <a:extLst>
              <a:ext uri="{FF2B5EF4-FFF2-40B4-BE49-F238E27FC236}">
                <a16:creationId xmlns:a16="http://schemas.microsoft.com/office/drawing/2014/main" id="{81386DE6-FA84-A758-C916-49F5F312ACDB}"/>
              </a:ext>
            </a:extLst>
          </p:cNvPr>
          <p:cNvPicPr>
            <a:picLocks noChangeAspect="1"/>
          </p:cNvPicPr>
          <p:nvPr/>
        </p:nvPicPr>
        <p:blipFill>
          <a:blip r:embed="rId3"/>
          <a:stretch>
            <a:fillRect/>
          </a:stretch>
        </p:blipFill>
        <p:spPr>
          <a:xfrm>
            <a:off x="7134187" y="4123582"/>
            <a:ext cx="2514951" cy="1638529"/>
          </a:xfrm>
          <a:prstGeom prst="rect">
            <a:avLst/>
          </a:prstGeom>
        </p:spPr>
      </p:pic>
    </p:spTree>
    <p:extLst>
      <p:ext uri="{BB962C8B-B14F-4D97-AF65-F5344CB8AC3E}">
        <p14:creationId xmlns:p14="http://schemas.microsoft.com/office/powerpoint/2010/main" val="3730410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B74F-0CF3-3134-3CA7-998DF5EC21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CB19DD-2E32-3CC0-B869-96FAB066B270}"/>
              </a:ext>
            </a:extLst>
          </p:cNvPr>
          <p:cNvSpPr>
            <a:spLocks noGrp="1"/>
          </p:cNvSpPr>
          <p:nvPr>
            <p:ph type="sldNum" sz="quarter" idx="12"/>
          </p:nvPr>
        </p:nvSpPr>
        <p:spPr/>
        <p:txBody>
          <a:bodyPr/>
          <a:lstStyle/>
          <a:p>
            <a:fld id="{42BF24B6-8F83-407C-A1CA-CA1BE030BB0E}" type="slidenum">
              <a:rPr lang="en-GB" smtClean="0"/>
              <a:t>5</a:t>
            </a:fld>
            <a:endParaRPr lang="en-GB"/>
          </a:p>
        </p:txBody>
      </p:sp>
      <p:sp>
        <p:nvSpPr>
          <p:cNvPr id="3" name="Rectangle 2">
            <a:extLst>
              <a:ext uri="{FF2B5EF4-FFF2-40B4-BE49-F238E27FC236}">
                <a16:creationId xmlns:a16="http://schemas.microsoft.com/office/drawing/2014/main" id="{B4AE5B89-F504-9D51-957D-E06B7252F1C4}"/>
              </a:ext>
            </a:extLst>
          </p:cNvPr>
          <p:cNvSpPr/>
          <p:nvPr/>
        </p:nvSpPr>
        <p:spPr>
          <a:xfrm>
            <a:off x="1947671" y="4562856"/>
            <a:ext cx="7994491" cy="213969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5">
            <a:extLst>
              <a:ext uri="{FF2B5EF4-FFF2-40B4-BE49-F238E27FC236}">
                <a16:creationId xmlns:a16="http://schemas.microsoft.com/office/drawing/2014/main" id="{6BBE7CFE-8A90-C77F-5A45-BCC998C606D8}"/>
              </a:ext>
            </a:extLst>
          </p:cNvPr>
          <p:cNvSpPr txBox="1">
            <a:spLocks/>
          </p:cNvSpPr>
          <p:nvPr/>
        </p:nvSpPr>
        <p:spPr>
          <a:xfrm>
            <a:off x="10991088" y="73152"/>
            <a:ext cx="914400" cy="320040"/>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2BF24B6-8F83-407C-A1CA-CA1BE030BB0E}" type="slidenum">
              <a:rPr lang="en-GB" smtClean="0"/>
              <a:pPr/>
              <a:t>5</a:t>
            </a:fld>
            <a:endParaRPr lang="en-GB"/>
          </a:p>
        </p:txBody>
      </p:sp>
      <p:sp>
        <p:nvSpPr>
          <p:cNvPr id="5" name="Rectangle 4">
            <a:extLst>
              <a:ext uri="{FF2B5EF4-FFF2-40B4-BE49-F238E27FC236}">
                <a16:creationId xmlns:a16="http://schemas.microsoft.com/office/drawing/2014/main" id="{06CC04E2-61CA-3F17-1EA1-BABE988B71BB}"/>
              </a:ext>
            </a:extLst>
          </p:cNvPr>
          <p:cNvSpPr/>
          <p:nvPr/>
        </p:nvSpPr>
        <p:spPr>
          <a:xfrm>
            <a:off x="589864" y="393191"/>
            <a:ext cx="4155872" cy="3666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ubtitle 2">
            <a:extLst>
              <a:ext uri="{FF2B5EF4-FFF2-40B4-BE49-F238E27FC236}">
                <a16:creationId xmlns:a16="http://schemas.microsoft.com/office/drawing/2014/main" id="{4E455A40-9258-8E6D-4FA9-D1A0A9F7A52B}"/>
              </a:ext>
            </a:extLst>
          </p:cNvPr>
          <p:cNvSpPr txBox="1">
            <a:spLocks/>
          </p:cNvSpPr>
          <p:nvPr/>
        </p:nvSpPr>
        <p:spPr>
          <a:xfrm>
            <a:off x="604437" y="521325"/>
            <a:ext cx="4155873" cy="3757949"/>
          </a:xfrm>
          <a:prstGeom prst="rect">
            <a:avLst/>
          </a:prstGeom>
        </p:spPr>
        <p:txBody>
          <a:bodyPr vert="horz" lIns="91440" tIns="0" rIns="91440" bIns="45720" rtlCol="0">
            <a:normAutofit/>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pPr algn="l"/>
            <a:r>
              <a:rPr lang="en-GB" dirty="0"/>
              <a:t>The third and final deferred lighting pass is the shading pass in which the scene is drawn again to sample albedo buffer, then a final full screen quad is drawn to apply the scene albedo with the light accumulation buffer to get the shaded scene. </a:t>
            </a:r>
          </a:p>
          <a:p>
            <a:pPr algn="l"/>
            <a:r>
              <a:rPr lang="en-GB" dirty="0"/>
              <a:t>This is also where any post processing effects are added to avoid writing another buffer with shaded scene information for practically no reason.</a:t>
            </a:r>
          </a:p>
        </p:txBody>
      </p:sp>
      <p:sp>
        <p:nvSpPr>
          <p:cNvPr id="7" name="Rectangle 6">
            <a:extLst>
              <a:ext uri="{FF2B5EF4-FFF2-40B4-BE49-F238E27FC236}">
                <a16:creationId xmlns:a16="http://schemas.microsoft.com/office/drawing/2014/main" id="{0CA7F8E9-096A-151E-140B-9AC5BF2C907D}"/>
              </a:ext>
            </a:extLst>
          </p:cNvPr>
          <p:cNvSpPr/>
          <p:nvPr/>
        </p:nvSpPr>
        <p:spPr>
          <a:xfrm>
            <a:off x="5020056" y="393192"/>
            <a:ext cx="6762474" cy="401421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A screenshot of a video game&#10;&#10;AI-generated content may be incorrect.">
            <a:extLst>
              <a:ext uri="{FF2B5EF4-FFF2-40B4-BE49-F238E27FC236}">
                <a16:creationId xmlns:a16="http://schemas.microsoft.com/office/drawing/2014/main" id="{4AF0955E-B429-307B-66F0-74ABCD05F2C3}"/>
              </a:ext>
            </a:extLst>
          </p:cNvPr>
          <p:cNvPicPr>
            <a:picLocks noChangeAspect="1"/>
          </p:cNvPicPr>
          <p:nvPr/>
        </p:nvPicPr>
        <p:blipFill>
          <a:blip r:embed="rId2"/>
          <a:stretch>
            <a:fillRect/>
          </a:stretch>
        </p:blipFill>
        <p:spPr>
          <a:xfrm>
            <a:off x="2249838" y="4861071"/>
            <a:ext cx="2495898" cy="1543265"/>
          </a:xfrm>
          <a:prstGeom prst="rect">
            <a:avLst/>
          </a:prstGeom>
        </p:spPr>
      </p:pic>
      <p:pic>
        <p:nvPicPr>
          <p:cNvPr id="12" name="Picture 11" descr="A screenshot of a video game&#10;&#10;AI-generated content may be incorrect.">
            <a:extLst>
              <a:ext uri="{FF2B5EF4-FFF2-40B4-BE49-F238E27FC236}">
                <a16:creationId xmlns:a16="http://schemas.microsoft.com/office/drawing/2014/main" id="{CAAB48B7-F4D2-DA12-0AF3-011B991C2819}"/>
              </a:ext>
            </a:extLst>
          </p:cNvPr>
          <p:cNvPicPr>
            <a:picLocks noChangeAspect="1"/>
          </p:cNvPicPr>
          <p:nvPr/>
        </p:nvPicPr>
        <p:blipFill>
          <a:blip r:embed="rId3"/>
          <a:stretch>
            <a:fillRect/>
          </a:stretch>
        </p:blipFill>
        <p:spPr>
          <a:xfrm>
            <a:off x="6096000" y="4721464"/>
            <a:ext cx="3482333" cy="1822477"/>
          </a:xfrm>
          <a:prstGeom prst="rect">
            <a:avLst/>
          </a:prstGeom>
        </p:spPr>
      </p:pic>
      <p:pic>
        <p:nvPicPr>
          <p:cNvPr id="15" name="Picture 14" descr="A screenshot of a computer program&#10;&#10;AI-generated content may be incorrect.">
            <a:extLst>
              <a:ext uri="{FF2B5EF4-FFF2-40B4-BE49-F238E27FC236}">
                <a16:creationId xmlns:a16="http://schemas.microsoft.com/office/drawing/2014/main" id="{7159AACA-6D50-8FC3-1673-ED0BDBB263B0}"/>
              </a:ext>
            </a:extLst>
          </p:cNvPr>
          <p:cNvPicPr>
            <a:picLocks noChangeAspect="1"/>
          </p:cNvPicPr>
          <p:nvPr/>
        </p:nvPicPr>
        <p:blipFill>
          <a:blip r:embed="rId4"/>
          <a:stretch>
            <a:fillRect/>
          </a:stretch>
        </p:blipFill>
        <p:spPr>
          <a:xfrm>
            <a:off x="5138552" y="594360"/>
            <a:ext cx="6525481" cy="3529584"/>
          </a:xfrm>
          <a:prstGeom prst="rect">
            <a:avLst/>
          </a:prstGeom>
        </p:spPr>
      </p:pic>
    </p:spTree>
    <p:extLst>
      <p:ext uri="{BB962C8B-B14F-4D97-AF65-F5344CB8AC3E}">
        <p14:creationId xmlns:p14="http://schemas.microsoft.com/office/powerpoint/2010/main" val="1710099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0F56-7FA1-769B-F683-3E9FF3174E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64F63B-8E6F-C921-7AB5-A8E9F0FD9C76}"/>
              </a:ext>
            </a:extLst>
          </p:cNvPr>
          <p:cNvSpPr>
            <a:spLocks noGrp="1"/>
          </p:cNvSpPr>
          <p:nvPr>
            <p:ph type="sldNum" sz="quarter" idx="12"/>
          </p:nvPr>
        </p:nvSpPr>
        <p:spPr>
          <a:xfrm>
            <a:off x="10433304" y="1261872"/>
            <a:ext cx="914400" cy="320040"/>
          </a:xfrm>
        </p:spPr>
        <p:txBody>
          <a:bodyPr/>
          <a:lstStyle/>
          <a:p>
            <a:fld id="{42BF24B6-8F83-407C-A1CA-CA1BE030BB0E}" type="slidenum">
              <a:rPr lang="en-GB" smtClean="0"/>
              <a:t>6</a:t>
            </a:fld>
            <a:endParaRPr lang="en-GB"/>
          </a:p>
        </p:txBody>
      </p:sp>
      <p:sp>
        <p:nvSpPr>
          <p:cNvPr id="4" name="Slide Number Placeholder 5">
            <a:extLst>
              <a:ext uri="{FF2B5EF4-FFF2-40B4-BE49-F238E27FC236}">
                <a16:creationId xmlns:a16="http://schemas.microsoft.com/office/drawing/2014/main" id="{70842E3F-0442-2854-5E83-DB099E45F85D}"/>
              </a:ext>
            </a:extLst>
          </p:cNvPr>
          <p:cNvSpPr txBox="1">
            <a:spLocks/>
          </p:cNvSpPr>
          <p:nvPr/>
        </p:nvSpPr>
        <p:spPr>
          <a:xfrm>
            <a:off x="10991088" y="73152"/>
            <a:ext cx="914400" cy="320040"/>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2BF24B6-8F83-407C-A1CA-CA1BE030BB0E}" type="slidenum">
              <a:rPr lang="en-GB" smtClean="0"/>
              <a:pPr/>
              <a:t>6</a:t>
            </a:fld>
            <a:endParaRPr lang="en-GB"/>
          </a:p>
        </p:txBody>
      </p:sp>
      <p:sp>
        <p:nvSpPr>
          <p:cNvPr id="5" name="Rectangle 4">
            <a:extLst>
              <a:ext uri="{FF2B5EF4-FFF2-40B4-BE49-F238E27FC236}">
                <a16:creationId xmlns:a16="http://schemas.microsoft.com/office/drawing/2014/main" id="{C91D3B1E-897E-DE0D-2476-295E11667693}"/>
              </a:ext>
            </a:extLst>
          </p:cNvPr>
          <p:cNvSpPr/>
          <p:nvPr/>
        </p:nvSpPr>
        <p:spPr>
          <a:xfrm>
            <a:off x="535000" y="2624327"/>
            <a:ext cx="4155872" cy="1051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ubtitle 2">
            <a:extLst>
              <a:ext uri="{FF2B5EF4-FFF2-40B4-BE49-F238E27FC236}">
                <a16:creationId xmlns:a16="http://schemas.microsoft.com/office/drawing/2014/main" id="{D27ABC60-0646-B378-B452-250D17CC30A5}"/>
              </a:ext>
            </a:extLst>
          </p:cNvPr>
          <p:cNvSpPr txBox="1">
            <a:spLocks/>
          </p:cNvSpPr>
          <p:nvPr/>
        </p:nvSpPr>
        <p:spPr>
          <a:xfrm>
            <a:off x="549573" y="2752461"/>
            <a:ext cx="4155873" cy="3757949"/>
          </a:xfrm>
          <a:prstGeom prst="rect">
            <a:avLst/>
          </a:prstGeom>
        </p:spPr>
        <p:txBody>
          <a:bodyPr vert="horz" lIns="91440" tIns="0" rIns="91440" bIns="45720" rtlCol="0">
            <a:normAutofit/>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pPr algn="l"/>
            <a:r>
              <a:rPr lang="en-GB" dirty="0"/>
              <a:t>The last render pass stage is just drawing the UI onto the final rendered image.</a:t>
            </a:r>
          </a:p>
        </p:txBody>
      </p:sp>
      <p:sp>
        <p:nvSpPr>
          <p:cNvPr id="7" name="Rectangle 6">
            <a:extLst>
              <a:ext uri="{FF2B5EF4-FFF2-40B4-BE49-F238E27FC236}">
                <a16:creationId xmlns:a16="http://schemas.microsoft.com/office/drawing/2014/main" id="{E8604512-3669-F0C5-D2B1-A66EC40A6E8B}"/>
              </a:ext>
            </a:extLst>
          </p:cNvPr>
          <p:cNvSpPr/>
          <p:nvPr/>
        </p:nvSpPr>
        <p:spPr>
          <a:xfrm>
            <a:off x="4983480" y="1335024"/>
            <a:ext cx="6762474" cy="4014216"/>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A screenshot of a computer&#10;&#10;AI-generated content may be incorrect.">
            <a:extLst>
              <a:ext uri="{FF2B5EF4-FFF2-40B4-BE49-F238E27FC236}">
                <a16:creationId xmlns:a16="http://schemas.microsoft.com/office/drawing/2014/main" id="{BBE2B41F-BA87-4D91-FEA3-3ADA2248DD1C}"/>
              </a:ext>
            </a:extLst>
          </p:cNvPr>
          <p:cNvPicPr>
            <a:picLocks noChangeAspect="1"/>
          </p:cNvPicPr>
          <p:nvPr/>
        </p:nvPicPr>
        <p:blipFill>
          <a:blip r:embed="rId2"/>
          <a:stretch>
            <a:fillRect/>
          </a:stretch>
        </p:blipFill>
        <p:spPr>
          <a:xfrm>
            <a:off x="5211352" y="1616896"/>
            <a:ext cx="6445648" cy="3624207"/>
          </a:xfrm>
          <a:prstGeom prst="rect">
            <a:avLst/>
          </a:prstGeom>
        </p:spPr>
      </p:pic>
    </p:spTree>
    <p:extLst>
      <p:ext uri="{BB962C8B-B14F-4D97-AF65-F5344CB8AC3E}">
        <p14:creationId xmlns:p14="http://schemas.microsoft.com/office/powerpoint/2010/main" val="2528486884"/>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TM16401371[[fn=Atlas]]</Template>
  <TotalTime>83</TotalTime>
  <Words>338</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Calibri Light</vt:lpstr>
      <vt:lpstr>Rockwell</vt:lpstr>
      <vt:lpstr>Wingdings</vt:lpstr>
      <vt:lpstr>Atlas</vt:lpstr>
      <vt:lpstr>Deferred Lighting Explanation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Moakes</dc:creator>
  <cp:lastModifiedBy>Ryan Moakes</cp:lastModifiedBy>
  <cp:revision>2</cp:revision>
  <dcterms:created xsi:type="dcterms:W3CDTF">2026-02-18T19:03:07Z</dcterms:created>
  <dcterms:modified xsi:type="dcterms:W3CDTF">2026-02-18T20:27:51Z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7505dff-df8c-4e2b-8546-36ae601cc8c4_Enabled">
    <vt:lpwstr>true</vt:lpwstr>
  </property>
  <property fmtid="{D5CDD505-2E9C-101B-9397-08002B2CF9AE}" pid="3" name="MSIP_Label_b7505dff-df8c-4e2b-8546-36ae601cc8c4_SetDate">
    <vt:lpwstr>2026-02-18T19:03:59Z</vt:lpwstr>
  </property>
  <property fmtid="{D5CDD505-2E9C-101B-9397-08002B2CF9AE}" pid="4" name="MSIP_Label_b7505dff-df8c-4e2b-8546-36ae601cc8c4_Method">
    <vt:lpwstr>Privileged</vt:lpwstr>
  </property>
  <property fmtid="{D5CDD505-2E9C-101B-9397-08002B2CF9AE}" pid="5" name="MSIP_Label_b7505dff-df8c-4e2b-8546-36ae601cc8c4_Name">
    <vt:lpwstr>Public_0</vt:lpwstr>
  </property>
  <property fmtid="{D5CDD505-2E9C-101B-9397-08002B2CF9AE}" pid="6" name="MSIP_Label_b7505dff-df8c-4e2b-8546-36ae601cc8c4_SiteId">
    <vt:lpwstr>57af78f2-c87d-4466-b7bb-6b6cc99ed124</vt:lpwstr>
  </property>
  <property fmtid="{D5CDD505-2E9C-101B-9397-08002B2CF9AE}" pid="7" name="MSIP_Label_b7505dff-df8c-4e2b-8546-36ae601cc8c4_ActionId">
    <vt:lpwstr>ef5bad14-e8c9-4629-ab03-c79d5b524018</vt:lpwstr>
  </property>
  <property fmtid="{D5CDD505-2E9C-101B-9397-08002B2CF9AE}" pid="8" name="MSIP_Label_b7505dff-df8c-4e2b-8546-36ae601cc8c4_ContentBits">
    <vt:lpwstr>0</vt:lpwstr>
  </property>
  <property fmtid="{D5CDD505-2E9C-101B-9397-08002B2CF9AE}" pid="9" name="MSIP_Label_b7505dff-df8c-4e2b-8546-36ae601cc8c4_Tag">
    <vt:lpwstr>10, 0, 1, 1</vt:lpwstr>
  </property>
</Properties>
</file>